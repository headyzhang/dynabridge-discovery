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E8652D"/>
            </a:solidFill>
          </c:spPr>
          <c:dLbls>
            <c:numFmt formatCode="0&quot;%&quot;" sourceLinked="0"/>
            <c:txPr>
              <a:bodyPr/>
              <a:lstStyle/>
              <a:p>
                <a:pPr>
                  <a:defRPr sz="1100" b="1">
                    <a:solidFill>
                      <a:srgbClr val="292524"/>
                    </a:solidFill>
                    <a:latin typeface="Montserra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in"/>
        <c:minorTickMark val="none"/>
        <c:tickLblPos val="nextTo"/>
        <c:txPr>
          <a:bodyPr/>
          <a:lstStyle/>
          <a:p>
            <a:pPr>
              <a:defRPr sz="1100">
                <a:solidFill>
                  <a:srgbClr val="292524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xed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0" y="2011680"/>
            <a:ext cx="50292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0" b="0" i="0">
                <a:solidFill>
                  <a:srgbClr val="FFFFFF"/>
                </a:solidFill>
                <a:latin typeface="Montserrat Light"/>
              </a:defRPr>
            </a:pPr>
            <a:r>
              <a:t>[Brand Name]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3200400"/>
            <a:ext cx="5029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800" b="0" i="0">
                <a:solidFill>
                  <a:srgbClr val="FFFFFF"/>
                </a:solidFill>
                <a:latin typeface="Montserrat Light"/>
              </a:defRPr>
            </a:pPr>
            <a:r>
              <a:t>Brand Discovery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457200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 i="0">
                <a:solidFill>
                  <a:srgbClr val="FFFFFF"/>
                </a:solidFill>
                <a:latin typeface="Montserrat"/>
              </a:defRPr>
            </a:pPr>
            <a:r>
              <a:t>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 i="0">
                <a:solidFill>
                  <a:srgbClr val="E8652D"/>
                </a:solidFill>
                <a:latin typeface="Montserrat"/>
              </a:defRPr>
            </a:pPr>
            <a:r>
              <a:t>TODAY'S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029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0" i="0">
                <a:solidFill>
                  <a:srgbClr val="292524"/>
                </a:solidFill>
                <a:latin typeface="Montserrat Light"/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240280"/>
            <a:ext cx="5029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0" i="0">
                <a:solidFill>
                  <a:srgbClr val="292524"/>
                </a:solidFill>
                <a:latin typeface="Montserrat Light"/>
              </a:defRPr>
            </a:pPr>
            <a:r>
              <a:t>Our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5029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0" i="0">
                <a:solidFill>
                  <a:srgbClr val="292524"/>
                </a:solidFill>
                <a:latin typeface="Montserrat Light"/>
              </a:defRPr>
            </a:pPr>
            <a:r>
              <a:t>Capabilities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29000"/>
            <a:ext cx="5029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0" i="0">
                <a:solidFill>
                  <a:srgbClr val="292524"/>
                </a:solidFill>
                <a:latin typeface="Montserrat Light"/>
              </a:defRPr>
            </a:pPr>
            <a:r>
              <a:t>Competition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023360"/>
            <a:ext cx="5029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0" i="0">
                <a:solidFill>
                  <a:srgbClr val="292524"/>
                </a:solidFill>
                <a:latin typeface="Montserrat Light"/>
              </a:defRPr>
            </a:pPr>
            <a:r>
              <a:t>Consumer Insights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617720"/>
            <a:ext cx="5029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0" i="0">
                <a:solidFill>
                  <a:srgbClr val="292524"/>
                </a:solidFill>
                <a:latin typeface="Montserrat Light"/>
              </a:defRPr>
            </a:pPr>
            <a:r>
              <a:t>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212080"/>
            <a:ext cx="5029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0" i="0">
                <a:solidFill>
                  <a:srgbClr val="292524"/>
                </a:solidFill>
                <a:latin typeface="Montserrat Light"/>
              </a:defRPr>
            </a:pPr>
            <a:r>
              <a:t>Research Appendix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5390" y="0"/>
            <a:ext cx="6096304" cy="6858000"/>
          </a:xfrm>
          <a:prstGeom prst="rect">
            <a:avLst/>
          </a:prstGeom>
          <a:solidFill>
            <a:srgbClr val="E8E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0" y="292608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 i="0">
                <a:solidFill>
                  <a:srgbClr val="80807A"/>
                </a:solidFill>
                <a:latin typeface="Montserrat"/>
              </a:defRPr>
            </a:pPr>
            <a:r>
              <a:t>[Brand / Product Image]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xed_approa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xed_ste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xed_capabilit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0584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 i="0">
                <a:solidFill>
                  <a:srgbClr val="E8652D"/>
                </a:solidFill>
                <a:latin typeface="Montserrat"/>
              </a:defRPr>
            </a:pPr>
            <a:r>
              <a:t>INSIGHT PLACEHOLDER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00"/>
              </a:lnSpc>
              <a:defRPr sz="1400" b="0" i="0">
                <a:solidFill>
                  <a:srgbClr val="292524"/>
                </a:solidFill>
                <a:latin typeface="Montserrat"/>
              </a:defRPr>
            </a:pPr>
            <a:r>
              <a:t>•  Bullet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74520"/>
            <a:ext cx="10515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00"/>
              </a:lnSpc>
              <a:defRPr sz="1400" b="0" i="0">
                <a:solidFill>
                  <a:srgbClr val="292524"/>
                </a:solidFill>
                <a:latin typeface="Montserrat"/>
              </a:defRPr>
            </a:pPr>
            <a:r>
              <a:t>•  Bullet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0584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E8652D"/>
                </a:solidFill>
                <a:latin typeface="Montserrat"/>
              </a:defRPr>
            </a:pPr>
            <a:r>
              <a:t>COMPETITOR — POSITIONING &amp; KEY LEARNINGS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0972800" cy="2011680"/>
          </a:xfrm>
          <a:prstGeom prst="rect">
            <a:avLst/>
          </a:prstGeom>
          <a:solidFill>
            <a:srgbClr val="E8E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0" y="182880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 i="0">
                <a:solidFill>
                  <a:srgbClr val="80807A"/>
                </a:solidFill>
                <a:latin typeface="Montserrat"/>
              </a:defRPr>
            </a:pPr>
            <a:r>
              <a:t>[COMPETITOR Brand Images]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38328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 i="0">
                <a:solidFill>
                  <a:srgbClr val="292524"/>
                </a:solidFill>
                <a:latin typeface="Montserrat"/>
              </a:defRPr>
            </a:pPr>
            <a:r>
              <a:t>POSITIONING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E8652D"/>
                </a:solidFill>
                <a:latin typeface="Montserrat"/>
              </a:rPr>
              <a:t>Target:  </a:t>
            </a:r>
            <a:r>
              <a:rPr sz="1200" b="0" i="0">
                <a:solidFill>
                  <a:srgbClr val="292524"/>
                </a:solidFill>
                <a:latin typeface="Montserrat"/>
              </a:rPr>
              <a:t>Detail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976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E8652D"/>
                </a:solidFill>
                <a:latin typeface="Montserrat"/>
              </a:rPr>
              <a:t>Price Point:  </a:t>
            </a:r>
            <a:r>
              <a:rPr sz="1200" b="0" i="0">
                <a:solidFill>
                  <a:srgbClr val="292524"/>
                </a:solidFill>
                <a:latin typeface="Montserrat"/>
              </a:rPr>
              <a:t>$XX–$XX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38328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 i="0">
                <a:solidFill>
                  <a:srgbClr val="292524"/>
                </a:solidFill>
                <a:latin typeface="Montserrat"/>
              </a:defRPr>
            </a:pPr>
            <a:r>
              <a:t>KEY LEARNINGS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8404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A8B5"/>
                </a:solidFill>
                <a:latin typeface="Montserrat"/>
              </a:rPr>
              <a:t>Strength:  </a:t>
            </a:r>
            <a:r>
              <a:rPr sz="1200" b="0" i="0">
                <a:solidFill>
                  <a:srgbClr val="292524"/>
                </a:solidFill>
                <a:latin typeface="Montserrat"/>
              </a:rPr>
              <a:t>Detail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2976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A8B5"/>
                </a:solidFill>
                <a:latin typeface="Montserrat"/>
              </a:rPr>
              <a:t>Opportunity:  </a:t>
            </a:r>
            <a:r>
              <a:rPr sz="1200" b="0" i="0">
                <a:solidFill>
                  <a:srgbClr val="292524"/>
                </a:solidFill>
                <a:latin typeface="Montserrat"/>
              </a:rPr>
              <a:t>Detail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4572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 i="0">
                <a:solidFill>
                  <a:srgbClr val="E8652D"/>
                </a:solidFill>
                <a:latin typeface="Montserrat"/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029200" cy="457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400"/>
              </a:lnSpc>
              <a:defRPr sz="1500" b="0" i="0">
                <a:solidFill>
                  <a:srgbClr val="292524"/>
                </a:solidFill>
                <a:latin typeface="Montserrat"/>
              </a:defRPr>
            </a:pPr>
          </a:p>
        </p:txBody>
      </p:sp>
      <p:sp>
        <p:nvSpPr>
          <p:cNvPr id="4" name="Rectangle 3"/>
          <p:cNvSpPr/>
          <p:nvPr/>
        </p:nvSpPr>
        <p:spPr>
          <a:xfrm>
            <a:off x="6583680" y="914400"/>
            <a:ext cx="5029200" cy="4754880"/>
          </a:xfrm>
          <a:prstGeom prst="rect">
            <a:avLst/>
          </a:prstGeom>
          <a:solidFill>
            <a:srgbClr val="E8E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301752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 i="0">
                <a:solidFill>
                  <a:srgbClr val="80807A"/>
                </a:solidFill>
                <a:latin typeface="Montserrat"/>
              </a:defRPr>
            </a:pPr>
            <a:r>
              <a:t>[Summary Visual]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xed_consum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2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 i="0">
                <a:solidFill>
                  <a:srgbClr val="FFFFFF"/>
                </a:solidFill>
                <a:latin typeface="Montserrat"/>
              </a:defRPr>
            </a:pPr>
            <a:r>
              <a:t>RESEARCH APPROACH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2011680" cy="457200"/>
          </a:xfrm>
          <a:prstGeom prst="roundRect">
            <a:avLst>
              <a:gd name="adj" fmla="val 15000"/>
            </a:avLst>
          </a:prstGeom>
          <a:solidFill>
            <a:srgbClr val="E86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7132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FFFFFF"/>
                </a:solidFill>
                <a:latin typeface="Montserrat"/>
              </a:defRPr>
            </a:pPr>
            <a:r>
              <a:t>Format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1671320"/>
            <a:ext cx="8229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 i="0">
                <a:solidFill>
                  <a:srgbClr val="FFFFFF"/>
                </a:solidFill>
                <a:latin typeface="Montserrat"/>
              </a:defRPr>
            </a:pPr>
            <a:r>
              <a:t>Online survey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331720"/>
            <a:ext cx="2011680" cy="457200"/>
          </a:xfrm>
          <a:prstGeom prst="roundRect">
            <a:avLst>
              <a:gd name="adj" fmla="val 15000"/>
            </a:avLst>
          </a:prstGeom>
          <a:solidFill>
            <a:srgbClr val="E86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35712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FFFFFF"/>
                </a:solidFill>
                <a:latin typeface="Montserrat"/>
              </a:defRPr>
            </a:pPr>
            <a:r>
              <a:t>Sample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357120"/>
            <a:ext cx="8229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 i="0">
                <a:solidFill>
                  <a:srgbClr val="FFFFFF"/>
                </a:solidFill>
                <a:latin typeface="Montserrat"/>
              </a:defRPr>
            </a:pPr>
            <a:r>
              <a:t>N=500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17520"/>
            <a:ext cx="2011680" cy="457200"/>
          </a:xfrm>
          <a:prstGeom prst="roundRect">
            <a:avLst>
              <a:gd name="adj" fmla="val 15000"/>
            </a:avLst>
          </a:prstGeom>
          <a:solidFill>
            <a:srgbClr val="E86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04292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FFFFFF"/>
                </a:solidFill>
                <a:latin typeface="Montserrat"/>
              </a:defRPr>
            </a:pPr>
            <a:r>
              <a:t>Participants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3042920"/>
            <a:ext cx="8229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 i="0">
                <a:solidFill>
                  <a:srgbClr val="FFFFFF"/>
                </a:solidFill>
                <a:latin typeface="Montserrat"/>
              </a:defRPr>
            </a:pPr>
            <a:r>
              <a:t>Target demographic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703320"/>
            <a:ext cx="2011680" cy="457200"/>
          </a:xfrm>
          <a:prstGeom prst="roundRect">
            <a:avLst>
              <a:gd name="adj" fmla="val 15000"/>
            </a:avLst>
          </a:prstGeom>
          <a:solidFill>
            <a:srgbClr val="E86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72872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FFFFFF"/>
                </a:solidFill>
                <a:latin typeface="Montserrat"/>
              </a:defRPr>
            </a:pPr>
            <a:r>
              <a:t>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3728720"/>
            <a:ext cx="8229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 i="0">
                <a:solidFill>
                  <a:srgbClr val="FFFFFF"/>
                </a:solidFill>
                <a:latin typeface="Montserrat"/>
              </a:defRPr>
            </a:pPr>
            <a:r>
              <a:t>Quantitative with cross-tabulation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2011680" cy="457200"/>
          </a:xfrm>
          <a:prstGeom prst="roundRect">
            <a:avLst>
              <a:gd name="adj" fmla="val 15000"/>
            </a:avLst>
          </a:prstGeom>
          <a:solidFill>
            <a:srgbClr val="E86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41452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FFFFFF"/>
                </a:solidFill>
                <a:latin typeface="Montserrat"/>
              </a:defRPr>
            </a:pPr>
            <a:r>
              <a:t>Timing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4414520"/>
            <a:ext cx="8229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 i="0">
                <a:solidFill>
                  <a:srgbClr val="FFFFFF"/>
                </a:solidFill>
                <a:latin typeface="Montserrat"/>
              </a:defRPr>
            </a:pPr>
            <a:r>
              <a:t>Q1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85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73152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 i="0">
                <a:solidFill>
                  <a:srgbClr val="FFFFFF"/>
                </a:solidFill>
                <a:latin typeface="Montserrat"/>
              </a:defRPr>
            </a:pPr>
            <a:r>
              <a:t>Demographics &amp;</a:t>
            </a:r>
            <a:br/>
            <a:r>
              <a:t>Background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0584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 i="0">
                <a:solidFill>
                  <a:srgbClr val="E8652D"/>
                </a:solidFill>
                <a:latin typeface="Montserrat"/>
              </a:defRPr>
            </a:pPr>
            <a:r>
              <a:t>BAR CHART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371600"/>
          <a:ext cx="105156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30936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1">
                <a:solidFill>
                  <a:srgbClr val="292524"/>
                </a:solidFill>
                <a:latin typeface="Montserrat"/>
              </a:defRPr>
            </a:pPr>
            <a:r>
              <a:t>Total sample; base n = 201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0584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 i="0">
                <a:solidFill>
                  <a:srgbClr val="E8652D"/>
                </a:solidFill>
                <a:latin typeface="Montserrat"/>
              </a:defRPr>
            </a:pPr>
            <a:r>
              <a:t>DUAL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1">
                <a:solidFill>
                  <a:srgbClr val="292524"/>
                </a:solidFill>
                <a:latin typeface="Montserrat"/>
              </a:defRPr>
            </a:pPr>
            <a:r>
              <a:t>Total sample; base n = 201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0584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 i="0">
                <a:solidFill>
                  <a:srgbClr val="E8652D"/>
                </a:solidFill>
                <a:latin typeface="Montserrat"/>
              </a:defRPr>
            </a:pPr>
            <a:r>
              <a:t>RECOMMENDED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457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E8652D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 i="0">
                <a:solidFill>
                  <a:srgbClr val="292524"/>
                </a:solidFill>
                <a:latin typeface="Montserrat"/>
              </a:defRPr>
            </a:pPr>
            <a:r>
              <a:t>Step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457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E8652D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10058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 i="0">
                <a:solidFill>
                  <a:srgbClr val="292524"/>
                </a:solidFill>
                <a:latin typeface="Montserrat"/>
              </a:defRPr>
            </a:pPr>
            <a:r>
              <a:t>Step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457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E8652D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26080"/>
            <a:ext cx="10058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 i="0">
                <a:solidFill>
                  <a:srgbClr val="292524"/>
                </a:solidFill>
                <a:latin typeface="Montserrat"/>
              </a:defRPr>
            </a:pPr>
            <a:r>
              <a:t>Step 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xed_thankyo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7548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spcAft>
                <a:spcPts val="400"/>
              </a:spcAft>
              <a:defRPr sz="1300" b="0">
                <a:solidFill>
                  <a:srgbClr val="FFFFFF"/>
                </a:solidFill>
                <a:latin typeface="Montserrat"/>
              </a:defRPr>
            </a:pPr>
            <a:r>
              <a:t>邮箱: contact@dynabridge.com</a:t>
            </a:r>
          </a:p>
          <a:p>
            <a:pPr algn="l">
              <a:lnSpc>
                <a:spcPts val="2200"/>
              </a:lnSpc>
              <a:spcAft>
                <a:spcPts val="400"/>
              </a:spcAft>
              <a:defRPr sz="1300" b="0">
                <a:solidFill>
                  <a:srgbClr val="FFFFFF"/>
                </a:solidFill>
                <a:latin typeface="Montserrat"/>
              </a:defRPr>
            </a:pPr>
            <a:r>
              <a:t>网站: https://www.dynabridge.cn/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